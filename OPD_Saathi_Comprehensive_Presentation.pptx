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2C66D"/>
                </a:solidFill>
              </a:defRPr>
            </a:pPr>
            <a:r>
              <a:t>NATIONAL HEALTH MISSION (NHM) • ABDM ALIGNED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OPD Saathi</a:t>
            </a:r>
          </a:p>
          <a:p>
            <a:pPr>
              <a:spcAft>
                <a:spcPts val="1400"/>
              </a:spcAft>
              <a:defRPr sz="2000" b="1">
                <a:solidFill>
                  <a:srgbClr val="F2C66D"/>
                </a:solidFill>
              </a:defRPr>
            </a:pPr>
            <a:r>
              <a:t>ओपीडी साथी  •  ஓபிடி சாதி</a:t>
            </a:r>
          </a:p>
          <a:p>
            <a:pPr>
              <a:spcAft>
                <a:spcPts val="2000"/>
              </a:spcAft>
              <a:defRPr sz="1600" b="1">
                <a:solidFill>
                  <a:srgbClr val="D9E8DF"/>
                </a:solidFill>
              </a:defRPr>
            </a:pPr>
            <a:r>
              <a:t>Pan-India Adaptive Hospital Journey Companion &amp; Real-Time Queue Orchestration</a:t>
            </a:r>
          </a:p>
          <a:p>
            <a:pPr>
              <a:spcAft>
                <a:spcPts val="2800"/>
              </a:spcAft>
              <a:defRPr sz="1200">
                <a:solidFill>
                  <a:srgbClr val="DCEBE4"/>
                </a:solidFill>
              </a:defRPr>
            </a:pPr>
            <a:r>
              <a:t>Built for every Indian citizen across all 28 States &amp; 8 Union Territories — eliminating counter chaos, language alienation, multi-floor disorientation, and post-consultation wandering.</a:t>
            </a:r>
          </a:p>
          <a:p>
            <a:pPr>
              <a:defRPr sz="1100" b="1">
                <a:solidFill>
                  <a:srgbClr val="F2C66D"/>
                </a:solidFill>
              </a:defRPr>
            </a:pPr>
            <a:r>
              <a:t>⚡ Real-Time WebSockets  •  ♿ Zero-Stairs Dijkstra  •  🇮🇳 Tri-Lingual (EN/HI/TA)  •  🆔 14-Digit ABHA ID</a:t>
            </a:r>
          </a:p>
        </p:txBody>
      </p:sp>
      <p:pic>
        <p:nvPicPr>
          <p:cNvPr id="3" name="Picture 2" descr="opd_hero_app_mockup_17928593696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914400"/>
            <a:ext cx="42976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PROBLEM STATEMENT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The Pan-India Public Healthcare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457200" cy="73152"/>
          </a:xfrm>
          <a:prstGeom prst="rect">
            <a:avLst/>
          </a:prstGeom>
          <a:solidFill>
            <a:srgbClr val="C9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Massive Patient Crowding &amp; Counter Chaos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5,000+ daily OPD footfalls per district hospital. Patients and rural elders stand in physical lines for 3 to 4 hours just to obtain a paper slip, sparking exhaustion and counter disputes.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6280" y="1554480"/>
            <a:ext cx="45720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373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The Paper Slip &amp; Handwriting Maze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Torn paper tokens, smeared stamps, and cryptic doctor handwriting leave non-literate patients helpless, frequently missing their turn when numbers are shouted over noisy waiting halls.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554480"/>
            <a:ext cx="45720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Language Alienation Across Diverse States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India has 22 scheduled languages. Migrant laborers, rural elders, and non-English readers face clinical intimidation when hospital signage is only in English or local administrative jargon.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023360"/>
            <a:ext cx="45720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Physical Disorientation &amp; The Stairs Trap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Government hospitals are multi-building, multi-floor labyrinths. Broken elevators and steep stairs trap elderly patients with arthritis, wheelchair users (Divyangjan), and mothers with strollers.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4023360"/>
            <a:ext cx="457200" cy="73152"/>
          </a:xfrm>
          <a:prstGeom prst="rect">
            <a:avLst/>
          </a:prstGeom>
          <a:solidFill>
            <a:srgbClr val="C9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20624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Mid-Day Doctor Relocation Pandemonium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When a doctor gets called to surgery or relocated to another room mid-morning, panic ensues. Crowds disperse, physical queues collapse, and hours of patient waiting are erased.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4023360"/>
            <a:ext cx="45720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206240"/>
            <a:ext cx="3063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6352F"/>
                </a:solidFill>
              </a:defRPr>
            </a:pPr>
            <a:r>
              <a:t>Post-Consultation Wandering &amp; Care Breakdown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60% of patient confusion happens AFTER the doctor consultation. Patients wander aimlessly trying to locate Free Medicine Pharmacies and Diagnostic Labs, often returning home without medications.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THE SOLUTION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OPD Saathi: Universal Public Healthcare Companion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4E46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Voice-First &amp; Tri-Lingual Accessibility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100% dictionary parity across 290 keys in English, Hindi, and Tamil. Assisted Mode with 22px+ high-contrast typography, Web Speech API native text-to-speech, and microphone input for non-literate citizens.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4E46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Mathematical Zero-Stairs Invariant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Dijkstra graph pathfinding that mathematically eliminates staircase edges. Guides seniors, Divyangjan, and stroller mothers safely via ramps and elevators with grounded physical landmark visual cues.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4E46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Real-Time WebSocket Queue Orchestration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Sub-150ms state synchronization between patients, nursing counters, and overhead TV boards. Includes multi-sensory proximity alerts (sound, vibration, SMS) when 3 patients are ahead.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74E46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National Hospital Network &amp; ABDM Integration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Single-click hospital switcher supporting AIIMS New Delhi, RGGGH Chennai, KEM Mumbai, Gandhi Hospital, and District Civil Hospitals. Instant zero-paperwork queue entry via 14-digit ABHA 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74E46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66D"/>
                </a:solidFill>
              </a:defRPr>
            </a:pPr>
            <a:r>
              <a:t>🏛️ UNIVERSAL HEALTHCARE MANDATE: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OPD Saathi is engineered for 100% population equity — functioning flawlessly on a Rs 4,000 feature Android phone in rural UP, a hospital kiosk in Chennai, or a family caregiver's iPhone in Mumbai.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EQUITY BY DESIGN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Diverse Citizens, Tailored Dignity: 6 Core Personas</a:t>
            </a:r>
          </a:p>
        </p:txBody>
      </p:sp>
      <p:pic>
        <p:nvPicPr>
          <p:cNvPr id="3" name="Picture 2" descr="opd_citizen_demographics_1792859393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03520" y="137160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40680" y="14447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🧓 Kamla Devi (Age 62 • Tamil Nadu)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Severe knee osteoarthritis, basic smartphone, Tamil speaker.</a:t>
            </a:r>
            <a:br/>
            <a:r>
              <a:t>System: Assisted Mode ON, Tamil audio narration, zero-stairs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19456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226771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🌾 Ramesh Sharma (Age 48 • Uttar Pradesh)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Daily wage farmer, non-English reader, chronic chest cough.</a:t>
            </a:r>
            <a:br/>
            <a:r>
              <a:t>System: Hindi voice guidance, plain-word symptom cards ('खांसी, बुखार').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01752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309067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👶 Priya &amp; Baby Aarav (Age 27 • Telangana)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Carrying infant &amp; stroller, visiting Pediatrics for vaccination.</a:t>
            </a:r>
            <a:br/>
            <a:r>
              <a:t>System: Stroller-safe elevator route, marks feeding &amp; clean water 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84048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391363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🩺 Mohammed Rafiq (Age 65 • West Bengal)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Low-income chronic diabetic patient requiring free insulin.</a:t>
            </a:r>
            <a:br/>
            <a:r>
              <a:t>System: Post-Consultation Navigator directs him to Free Pharmacy Counter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66344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473659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🎓 Anand Joshi (Age 22 • Maharashtra)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University student, tech-savvy, seeks zero paperwork delay.</a:t>
            </a:r>
            <a:br/>
            <a:r>
              <a:t>System: Instant 0-second queue entry using 14-digit ABHA digital health card.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5486400"/>
            <a:ext cx="6126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55595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74E46"/>
                </a:solidFill>
              </a:defRPr>
            </a:pPr>
            <a:r>
              <a:t>♿ Deepak Verma (Age 34 • New Delhi)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Needs: Wheelchair user (Divyangjan), requires step-free transit.</a:t>
            </a:r>
            <a:br/>
            <a:r>
              <a:t>System: Strict zero-stairs Dijkstra path, lift-breakdown contingency rerouting.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SYSTEM ENGINEERING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Isomorphic, Resilient Full-Stack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600200"/>
            <a:ext cx="73152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8308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6352F"/>
                </a:solidFill>
              </a:defRPr>
            </a:pPr>
            <a:r>
              <a:t>Client Tier (PWA)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React 18 + Vite Production Bundle</a:t>
            </a:r>
            <a:br/>
            <a:br/>
            <a:r>
              <a:t>• Turnkey PWA precaching via Service Workers</a:t>
            </a:r>
            <a:br/>
            <a:r>
              <a:t>• IndexedDB offline token &amp; state fallback</a:t>
            </a:r>
            <a:br/>
            <a:r>
              <a:t>• Web Speech API (bi-directional speech)</a:t>
            </a:r>
            <a:br/>
            <a:r>
              <a:t>• Native BarcodeDetector API for QR tokens</a:t>
            </a:r>
            <a:br/>
            <a:r>
              <a:t>• WCAG AAA compliant color contrast tokens</a:t>
            </a:r>
            <a:br/>
            <a:r>
              <a:t>• Native mobile BottomNav + responsive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600200"/>
            <a:ext cx="731520" cy="73152"/>
          </a:xfrm>
          <a:prstGeom prst="rect">
            <a:avLst/>
          </a:prstGeom>
          <a:solidFill>
            <a:srgbClr val="F2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6352F"/>
                </a:solidFill>
              </a:defRPr>
            </a:pPr>
            <a:r>
              <a:t>Real-Time Orchestration Tier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Node.js + Express + Socket.io</a:t>
            </a:r>
            <a:br/>
            <a:br/>
            <a:r>
              <a:t>• Sub-150ms bi-directional state broadcast</a:t>
            </a:r>
            <a:br/>
            <a:r>
              <a:t>• JSON atomic state disk persistence</a:t>
            </a:r>
            <a:br/>
            <a:r>
              <a:t>• Moving average waiting time algorithm</a:t>
            </a:r>
            <a:br/>
            <a:r>
              <a:t>• Role-based clinical security with PIN auth</a:t>
            </a:r>
            <a:br/>
            <a:r>
              <a:t>• Autonomous doctor delay propagation</a:t>
            </a:r>
            <a:br/>
            <a:r>
              <a:t>• Pinned audible emergency SOS webhook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80" y="1600200"/>
            <a:ext cx="731520" cy="73152"/>
          </a:xfrm>
          <a:prstGeom prst="rect">
            <a:avLst/>
          </a:prstGeom>
          <a:solidFill>
            <a:srgbClr val="174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783080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6352F"/>
                </a:solidFill>
              </a:defRPr>
            </a:pPr>
            <a:r>
              <a:t>Cloud &amp; Deployment Topology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Dual-Cloud Edge &amp; Zero-Error Fallback</a:t>
            </a:r>
            <a:br/>
            <a:br/>
            <a:r>
              <a:t>• Vercel: Global edge deployment for client SPA</a:t>
            </a:r>
            <a:br/>
            <a:r>
              <a:t>• Render: Free/Standard managed web service</a:t>
            </a:r>
            <a:br/>
            <a:r>
              <a:t>• vercel.json SPA rewrites: zero 404 on refresh</a:t>
            </a:r>
            <a:br/>
            <a:r>
              <a:t>• Standalone Fallback: Browser-signed JWT engine guarantees 100% demo success even with no backend</a:t>
            </a:r>
            <a:br/>
            <a:r>
              <a:t>• 39/39 Automated Invariant Test Harness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SPATIAL INTELLIGENCE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Zero-Stairs Dijkstra Navigation &amp; Wayfinding</a:t>
            </a:r>
          </a:p>
        </p:txBody>
      </p:sp>
      <p:pic>
        <p:nvPicPr>
          <p:cNvPr id="3" name="Picture 2" descr="opd_navigation_indoor_17928594434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26480" y="137160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087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Mathematical Zero-Stairs Graph Invariant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The hospital layout is modeled as a multi-floor directed graph G = (V, E). When 'avoidStairs = true' is enabled, all staircase edges are strictly pruned (E' = E \ E_stairs). Dijkstra computes the shortest path strictly across elevators, ramps, and flat corridors.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01752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31546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Physical Landmark Grounded Guidance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Abstract maps fail anxious patients. OPD Saathi replaces confusing arrows with real-world cues: 'Follow the painted GREEN line on the floor past the water cooler opposite the blue chairs'.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6634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8006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Lift Breakdown &amp; Failure Contingency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If hospital staff report an elevator outage, the engine re-routes via accessible ramps. If no step-free path exists, the system refuses stairs and triggers an Attendant Assistance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NATIONAL HEALTH STACK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Ayushman Bharat Digital Mission (ABDM) Integration</a:t>
            </a:r>
          </a:p>
        </p:txBody>
      </p:sp>
      <p:pic>
        <p:nvPicPr>
          <p:cNvPr id="3" name="Picture 2" descr="opd_abha_card_digital_1792859416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26480" y="137160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0" y="150876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National Health Authority (NHA) Compliance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Direct alignment with India's Ayushman Bharat Digital Mission (ABDM) architecture. Enables patient identity verification, longitudinal digital health record linkage, and paperless OPD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01752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315468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Instant 0-Second QR Code Check-In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Citizens can tap '⚡ ABHA Scan' or present their physical Ayushman Bharat card. The system parses the 14-digit ABHA ID (e.g. 91-4523-8821-6549) and issues a confirmed OPD token in under 300ms.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663440"/>
            <a:ext cx="530352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800600"/>
            <a:ext cx="4937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74E46"/>
                </a:solidFill>
              </a:defRPr>
            </a:pPr>
            <a:r>
              <a:t>Digital Health Card Preview &amp; Verification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Patients can view their verified ABDM digital card inside the app, complete with Government of India emblem, demographic details, and QR verification for seamless counter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QUEUE ORCHESTRATION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Predictive Queue Engine &amp; Waiting Time Formula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174E46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2C66D"/>
                </a:solidFill>
              </a:defRPr>
            </a:pPr>
            <a:r>
              <a:t>THE DYNAMIC PREDICTIVE WAIT TIME FORMULA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Estimated Wait = (Patients Ahead × Moving Avg Consultation Time of Last 10 Patients) + Doctor Delay</a:t>
            </a:r>
          </a:p>
          <a:p>
            <a:pPr>
              <a:defRPr sz="1100">
                <a:solidFill>
                  <a:srgbClr val="D9E8DF"/>
                </a:solidFill>
              </a:defRPr>
            </a:pPr>
            <a:r>
              <a:t>Continuously recalibrated in real time as consultations start and conclude. Eliminates arbitrary guesswork and panic.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74E46"/>
                </a:solidFill>
              </a:defRPr>
            </a:pPr>
            <a:r>
              <a:t>Multi-Sensory 3-Ahead Alerts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When queue position reaches 3 patients ahead:</a:t>
            </a:r>
            <a:br/>
            <a:br/>
            <a:r>
              <a:t>• Web Audio chime rings automatically</a:t>
            </a:r>
            <a:br/>
            <a:r>
              <a:t>• Hardware vibration pattern [200, 100, 200] ms</a:t>
            </a:r>
            <a:br/>
            <a:r>
              <a:t>• Simulated SMS notification delivered</a:t>
            </a:r>
            <a:br/>
            <a:r>
              <a:t>• Visual amber beacon alerts patient to approach 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1089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3375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74E46"/>
                </a:solidFill>
              </a:defRPr>
            </a:pPr>
            <a:r>
              <a:t>Autonomous Doctor Delay Propagator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If Dr. Verma enters a 15-minute emergency ward round delay, the system instantly broadcasts delta adjustments to all waiting patients via WebSockets, eliminating crowded waiting hall riots.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108960"/>
            <a:ext cx="34290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33756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74E46"/>
                </a:solidFill>
              </a:defRPr>
            </a:pPr>
            <a:r>
              <a:t>Human-Centric Reassuring Rounding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Instead of robotic precision ('Wait: 27m 14s'), the system rounds gracefully to the nearest 5 minutes ('About 25 minutes') to reduce cognitive anxiety and maintain trust.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RESILIENCE ENGINEERING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Handling Hospital Reality: Doctor Relocation 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2C66D"/>
                </a:solidFill>
              </a:defRPr>
            </a:pPr>
            <a:r>
              <a:t>STEP 1: CLINICAL TRIGGER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Doctor Relocated on Dashboard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Due to emergency surgery or room sanitation, duty nursing officer switches Dr. Verma from Room 104 (Floor 1) to Room 208 (Floor 2) in 1 tap on Staff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2C66D"/>
                </a:solidFill>
              </a:defRPr>
            </a:pPr>
            <a:r>
              <a:t>STEP 2: SUB-150MS BROADCAST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Atomic WebSocket Event Diff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Backend pushes a structured 'SUPERSEDED' event diff to all active sessions, containing previous room, new room, new floor, and updated landmarks.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2C66D"/>
                </a:solidFill>
              </a:defRPr>
            </a:pPr>
            <a:r>
              <a:t>STEP 3: AMBER RECOVERY BANNER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Clear Diff Display &amp; Speech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Patient screen immediately renders a high-visibility Amber Recovery Banner with crossed-out old room (Room 104 → Room 208) and reads the change aloud in their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603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16002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2C66D"/>
                </a:solidFill>
              </a:defRPr>
            </a:pPr>
            <a:r>
              <a:t>STEP 4: REAL-TIME REROUTING</a:t>
            </a:r>
          </a:p>
          <a:p>
            <a:pPr>
              <a:spcAft>
                <a:spcPts val="1000"/>
              </a:spcAft>
              <a:defRPr sz="1300" b="1">
                <a:solidFill>
                  <a:srgbClr val="26352F"/>
                </a:solidFill>
              </a:defRPr>
            </a:pPr>
            <a:r>
              <a:t>Zero-Stairs Path Recalculation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Dijkstra engine instantly computes a fresh step-free route from patient's current GPS/visual checkpoint to the new room, preventing chaos and missed turns.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74E46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66D"/>
                </a:solidFill>
              </a:defRPr>
            </a:pPr>
            <a:r>
              <a:t>✅ AUTOMATED VERIFICATION HARNESS (Section 5):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Validated in automated test suite (node scripts/verify-system.js): Room reassignments successfully push state updates and recalculate step-free routes in under 150ms with 100% data integrity.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CONTINUOUS CARE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Closing the Care Loop: Post-Consultation Navigation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41148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3657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C93B2B"/>
                </a:solidFill>
              </a:defRPr>
            </a:pPr>
            <a:r>
              <a:t>THE FORGOTTEN STEP IN OPD CARE</a:t>
            </a:r>
          </a:p>
          <a:p>
            <a:pPr>
              <a:spcAft>
                <a:spcPts val="1200"/>
              </a:spcAft>
              <a:defRPr sz="1400" b="1">
                <a:solidFill>
                  <a:srgbClr val="26352F"/>
                </a:solidFill>
              </a:defRPr>
            </a:pPr>
            <a:r>
              <a:t>Why Do Patients Abandon Treatment After Seeing Doctors?</a:t>
            </a:r>
          </a:p>
          <a:p>
            <a:pPr>
              <a:defRPr sz="1100">
                <a:solidFill>
                  <a:srgbClr val="52665C"/>
                </a:solidFill>
              </a:defRPr>
            </a:pPr>
            <a:r>
              <a:t>In major government hospitals like AIIMS or RGGGH, the consultation is only Step 1.</a:t>
            </a:r>
            <a:br/>
            <a:br/>
            <a:r>
              <a:t>Patients must then find the Free Medicine Counter (which has its own queue) and the Government Diagnostic Pathology Lab for blood/urine tests.</a:t>
            </a:r>
            <a:br/>
            <a:br/>
            <a:r>
              <a:t>Over 60% of rural and elder patients get disoriented, wait at the wrong window, or give up and leave without their essential medications.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371600"/>
            <a:ext cx="633953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155448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4E46"/>
                </a:solidFill>
              </a:defRPr>
            </a:pPr>
            <a:r>
              <a:t>💊 Destination A: Free Medicine Pharmacy Counter 3</a:t>
            </a:r>
          </a:p>
          <a:p>
            <a:pPr>
              <a:spcAft>
                <a:spcPts val="600"/>
              </a:spcAft>
              <a:defRPr sz="1000" b="1">
                <a:solidFill>
                  <a:srgbClr val="F2C66D"/>
                </a:solidFill>
              </a:defRPr>
            </a:pPr>
            <a:r>
              <a:t>Ground Floor East Wing • 1-Click Zero-Stairs Route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• Automatically triggered the moment the doctor marks consultation completed.</a:t>
            </a:r>
            <a:br/>
            <a:r>
              <a:t>• Step-free route guides patient straight to Free Pharmacy Counter 3 via ground floor corridor.</a:t>
            </a:r>
            <a:br/>
            <a:r>
              <a:t>• Displays checklist of required documents (Prescription slip, Senior Citizen card, ABHA ID).</a:t>
            </a:r>
            <a:br/>
            <a:r>
              <a:t>• Spoken directions in native Tamil/Hindi: 'கவுண்டர் 3-க்கு செல்லவும்'.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931920"/>
            <a:ext cx="633953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4114800"/>
            <a:ext cx="5852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4E46"/>
                </a:solidFill>
              </a:defRPr>
            </a:pPr>
            <a:r>
              <a:t>🧪 Destination B: Government Diagnostic Lab G-08</a:t>
            </a:r>
          </a:p>
          <a:p>
            <a:pPr>
              <a:spcAft>
                <a:spcPts val="600"/>
              </a:spcAft>
              <a:defRPr sz="1000" b="1">
                <a:solidFill>
                  <a:srgbClr val="F2C66D"/>
                </a:solidFill>
              </a:defRPr>
            </a:pPr>
            <a:r>
              <a:t>Basement / Ground Floor Annex • Pathology &amp; Radiology</a:t>
            </a:r>
          </a:p>
          <a:p>
            <a:pPr>
              <a:defRPr sz="1000">
                <a:solidFill>
                  <a:srgbClr val="52665C"/>
                </a:solidFill>
              </a:defRPr>
            </a:pPr>
            <a:r>
              <a:t>• For patients prescribed blood tests, urine analysis, or X-rays.</a:t>
            </a:r>
            <a:br/>
            <a:r>
              <a:t>• Calculates accessible route avoiding all staircases using elevator and ramp transitions.</a:t>
            </a:r>
            <a:br/>
            <a:r>
              <a:t>• Explains fasting requirements and sample collection timings in simple, non-medical words.</a:t>
            </a:r>
            <a:br/>
            <a:r>
              <a:t>• Guarantees patients complete their complete clinical diagnostic loop in a single visit.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CAREGIVER ECOSYSTEM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Family Peace of Mind: Off-Site Live Tracking (/track)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74E46"/>
                </a:solidFill>
              </a:defRPr>
            </a:pPr>
            <a:r>
              <a:t>Token-Based URL Access (Zero Barrier)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Dedicated route: /track?token=OPD-7429</a:t>
            </a:r>
            <a:br/>
            <a:br/>
            <a:r>
              <a:t>Family members waiting at home, in another state, or outside the hospital gate can monitor their relative without installing apps, creating accounts, or entering passwords. Opens instantly in any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74E46"/>
                </a:solidFill>
              </a:defRPr>
            </a:pPr>
            <a:r>
              <a:t>Real-Time Journey Status Timeline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Transparent 5-Stage Live Progress:</a:t>
            </a:r>
            <a:br/>
            <a:br/>
            <a:r>
              <a:t>1. Registration Confirmed (Token Issued)</a:t>
            </a:r>
            <a:br/>
            <a:r>
              <a:t>2. In Waiting Lounge (Queue Position: 3 Ahead)</a:t>
            </a:r>
            <a:br/>
            <a:r>
              <a:t>3. Doctor Consultation Active (Room 104)</a:t>
            </a:r>
            <a:br/>
            <a:r>
              <a:t>4. Post-Consultation at Pharmacy Counter 3</a:t>
            </a:r>
            <a:br/>
            <a:r>
              <a:t>5. Visit Completed with Saved Digital Slip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74E46"/>
                </a:solidFill>
              </a:defRPr>
            </a:pPr>
            <a:r>
              <a:t>1-Click WhatsApp &amp; Phone Contact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Empowering Family Coordination:</a:t>
            </a:r>
            <a:br/>
            <a:br/>
            <a:r>
              <a:t>• 1-Click WhatsApp sharing sends formatted live status to family groups</a:t>
            </a:r>
            <a:br/>
            <a:r>
              <a:t>• Direct Call Patient button for instant check-in</a:t>
            </a:r>
            <a:br/>
            <a:r>
              <a:t>• Emergency Doctor Relocation alerts with suggested talking points to guide the patient over the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74E46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2C66D"/>
                </a:solidFill>
              </a:defRPr>
            </a:pPr>
            <a:r>
              <a:t>❤️ CAREGIVER PEACE OF MIND GUARANTEE: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 Indian society, healthcare is a family affair. OPD Saathi ensures sons, daughters, and spouses in distant towns have complete live visibility into their loved one's care.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CLINICAL ETHICS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Clinical Safety Mandate: Emergencies Come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C93B2B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66D"/>
                </a:solidFill>
              </a:defRPr>
            </a:pPr>
            <a:r>
              <a:t>🚨 CLINICAL ETHICS &amp; SAFETY RULE #1</a:t>
            </a:r>
          </a:p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OPD Saathi NEVER attempts automated AI medical diagnosis, NEVER tells any patient their symptoms can wait, and NEVER gates emergency care behind a token or registration.</a:t>
            </a:r>
          </a:p>
          <a:p>
            <a:pPr>
              <a:defRPr sz="1050">
                <a:solidFill>
                  <a:srgbClr val="FFEBE6"/>
                </a:solidFill>
              </a:defRPr>
            </a:pPr>
            <a:r>
              <a:t>Casualty care is zero-barrier. Qualified doctors and triage nurses assess emergency conditions — not software algorithms.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93B2B"/>
                </a:solidFill>
              </a:defRPr>
            </a:pPr>
            <a:r>
              <a:t>Persistent SOS Button on Every Screen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A prominent red SOS / Emergency button is permanently pinned to the header and mobile bottom navigation across all 12 views — before, during, and after registration.</a:t>
            </a:r>
            <a:br/>
            <a:r>
              <a:t>Tapping it bypasses everything and dials 112/108 or routes directly to Casualty.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01752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2461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93B2B"/>
                </a:solidFill>
              </a:defRPr>
            </a:pPr>
            <a:r>
              <a:t>Pre-Registration Triage Red Flags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The wizard actively screens for 8 life-threatening emergency signs:</a:t>
            </a:r>
            <a:br/>
            <a:r>
              <a:t>• Severe chest pain or pressure</a:t>
            </a:r>
            <a:br/>
            <a:r>
              <a:t>• Extreme difficulty breathing</a:t>
            </a:r>
            <a:br/>
            <a:r>
              <a:t>• Acute trauma or heavy bleeding</a:t>
            </a:r>
            <a:br/>
            <a:r>
              <a:t>• Unconsciousness or stroke symptoms</a:t>
            </a:r>
            <a:br/>
            <a:r>
              <a:t>• Maternal bleeding or labor pain</a:t>
            </a:r>
            <a:br/>
            <a:r>
              <a:t>→ Directs immediately to Casualty gate.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017520"/>
            <a:ext cx="34290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24612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C93B2B"/>
                </a:solidFill>
              </a:defRPr>
            </a:pPr>
            <a:r>
              <a:t>Hospital-Wide Audible Nursing Alarm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If a patient taps 'I Need Urgent Help', a high-priority web-audio distress alarm sounds continuously on the Staff Control Dashboard, displaying the patient's exact location until acknowledged and attendant dispatched.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HOSPITAL OPERATIONS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Staff Control Room &amp; Digital TV Signage 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74E46"/>
                </a:solidFill>
              </a:defRPr>
            </a:pPr>
            <a:r>
              <a:t>Staff Command Center (/staff)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PIN-Protected Clinical Control (PIN: 1234)</a:t>
            </a:r>
            <a:br/>
            <a:br/>
            <a:r>
              <a:t>• Real-Time Queue Operations: 1-click Call Next, Mark No-Show, Send to End, and Transfer Department</a:t>
            </a:r>
            <a:br/>
            <a:r>
              <a:t>• Doctor Delay Sliders: Broadcast +10m, +15m, +30m delay notices across all patient screens</a:t>
            </a:r>
            <a:br/>
            <a:r>
              <a:t>• Room Relocation Switcher: Triggers sub-150ms patient rerouting</a:t>
            </a:r>
            <a:br/>
            <a:r>
              <a:t>• Pinned Audible Emergency Panel: Displays patient SOS location with flashing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74E46"/>
                </a:solidFill>
              </a:defRPr>
            </a:pPr>
            <a:r>
              <a:t>Walk-In Counter Tool (/counter)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For Patients Without Mobile Phones</a:t>
            </a:r>
            <a:br/>
            <a:br/>
            <a:r>
              <a:t>• High-Speed 3-Tap Registration: Clinical desk staff can register walk-in patients in 10 seconds</a:t>
            </a:r>
            <a:br/>
            <a:r>
              <a:t>• Physical Slip Generation: Instant thermal printer receipt preview with high-contrast token number, QR code, and landmark instructions</a:t>
            </a:r>
            <a:br/>
            <a:r>
              <a:t>• Inclusivity Guarantee: Ensures non-smartphone citizens enjoy identical priority and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60020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74E46"/>
                </a:solidFill>
              </a:defRPr>
            </a:pPr>
            <a:r>
              <a:t>Waiting-Room TV Board (/board)</a:t>
            </a:r>
          </a:p>
          <a:p>
            <a:pPr>
              <a:defRPr sz="1050">
                <a:solidFill>
                  <a:srgbClr val="52665C"/>
                </a:solidFill>
              </a:defRPr>
            </a:pPr>
            <a:r>
              <a:t>10-Foot Digital Signage Display</a:t>
            </a:r>
            <a:br/>
            <a:br/>
            <a:r>
              <a:t>• High-Contrast Overhead Signage: Designed for wall-mounted 55-inch public hospital TVs</a:t>
            </a:r>
            <a:br/>
            <a:r>
              <a:t>• Tri-Lingual Rotation: Automatically cycles active tokens in English, Hindi, and Tamil</a:t>
            </a:r>
            <a:br/>
            <a:r>
              <a:t>• Audible Token Announcements: Audio chimes and voice synthesis announce new patient calls</a:t>
            </a:r>
            <a:br/>
            <a:r>
              <a:t>• Multi-Department Layout: Ortho, Medicine, Pediatrics, ENT, Eye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74E46"/>
                </a:solidFill>
              </a:defRPr>
            </a:pPr>
            <a:r>
              <a:t>VERIFICATION &amp; QUALITY</a:t>
            </a:r>
          </a:p>
          <a:p>
            <a:pPr>
              <a:defRPr sz="2200" b="1">
                <a:solidFill>
                  <a:srgbClr val="26352F"/>
                </a:solidFill>
              </a:defRPr>
            </a:pPr>
            <a:r>
              <a:t>Battle-Tested Reliability: 39/39 Automated Tests Passing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1: TRI-LINGUAL KEY PARITY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100% Match Across 290 Dictionary Keys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Verified through automated AST parsing: en.json, hi.json, and ta.json have exact key parity. Zero missing translations, zero undefined fallback strings, full script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55448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2: STRICT ZERO-STAIRS INVARIANT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Verified Across 10 Multi-Floor Route Pairs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Pathfinder tested from Entrance to 2nd Floor Ortho Room. Statically verified that ZERO staircase nodes are traversed when avoidStairs=true. Lift failures gracefully transition to ramps.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55448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2F: POST-CONSULTATION ROUTING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Verified Step-Free Pharmacy &amp; Lab Paths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Automated Dijkstra verification confirms step-free accessible transit from Ortho Room 5 to Free Medicine Pharmacy Counter 3 and Diagnostic Lab G-08.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3: PERSISTENT SERVER &amp; STATE API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Disk-Backed Atomic State Resilience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Automated stress testing verifies that tokens, patient states, and queue order survive server restarts and process crashes via atomic JSON state synchronization.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0233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4: ROLE-BASED ACCESS CONTROL (RBAC)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Clinical Endpoint Protection with PIN 1234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All state-changing administrative endpoints (/api/queue/call-next, /api/queue/delay) strictly reject unauthenticated requests with HTTP 401 Unauthorized.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840480"/>
            <a:ext cx="3429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D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6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74E46"/>
                </a:solidFill>
              </a:defRPr>
            </a:pPr>
            <a:r>
              <a:t>SECTION 5: QUEUE DELAY &amp; RECOVERY ENGINE</a:t>
            </a:r>
          </a:p>
          <a:p>
            <a:pPr>
              <a:spcAft>
                <a:spcPts val="600"/>
              </a:spcAft>
              <a:defRPr sz="1200" b="1">
                <a:solidFill>
                  <a:srgbClr val="26352F"/>
                </a:solidFill>
              </a:defRPr>
            </a:pPr>
            <a:r>
              <a:t>Sub-150ms Doctor Shift Propagation</a:t>
            </a:r>
          </a:p>
          <a:p>
            <a:pPr>
              <a:defRPr sz="950">
                <a:solidFill>
                  <a:srgbClr val="52665C"/>
                </a:solidFill>
              </a:defRPr>
            </a:pPr>
            <a:r>
              <a:t>Dynamic wait time formula verified against fluctuating consultation times. Sub-150ms WebSocket latency verified during simulated mid-day room relocations.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4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2C66D"/>
                </a:solidFill>
              </a:defRPr>
            </a:pPr>
            <a:r>
              <a:t>CONCLUSION &amp; NATIONAL IMPACT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Transforming Indian Public Healthcare at National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560320" cy="3017520"/>
          </a:xfrm>
          <a:prstGeom prst="roundRect">
            <a:avLst/>
          </a:prstGeom>
          <a:solidFill>
            <a:srgbClr val="0E2E2A"/>
          </a:solidFill>
          <a:ln w="19050">
            <a:solidFill>
              <a:srgbClr val="F2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2C66D"/>
                </a:solidFill>
              </a:defRPr>
            </a:pPr>
            <a:r>
              <a:t>70%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Queue Reduction</a:t>
            </a:r>
          </a:p>
          <a:p>
            <a:pPr>
              <a:defRPr sz="1000">
                <a:solidFill>
                  <a:srgbClr val="D9E8DF"/>
                </a:solidFill>
              </a:defRPr>
            </a:pPr>
            <a:r>
              <a:t>Cuts physical counter waiting time from 3+ hours down to under 10 seconds via digital ABHA check-in.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920240"/>
            <a:ext cx="2560320" cy="3017520"/>
          </a:xfrm>
          <a:prstGeom prst="roundRect">
            <a:avLst/>
          </a:prstGeom>
          <a:solidFill>
            <a:srgbClr val="0E2E2A"/>
          </a:solidFill>
          <a:ln w="19050">
            <a:solidFill>
              <a:srgbClr val="F2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2103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2C66D"/>
                </a:solidFill>
              </a:defRPr>
            </a:pPr>
            <a:r>
              <a:t>100%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Step-Free Invariant</a:t>
            </a:r>
          </a:p>
          <a:p>
            <a:pPr>
              <a:defRPr sz="1000">
                <a:solidFill>
                  <a:srgbClr val="D9E8DF"/>
                </a:solidFill>
              </a:defRPr>
            </a:pPr>
            <a:r>
              <a:t>Zero stairs traversed by seniors, wheelchair users, and stroller parents across all Indian public hospitals.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2560320" cy="3017520"/>
          </a:xfrm>
          <a:prstGeom prst="roundRect">
            <a:avLst/>
          </a:prstGeom>
          <a:solidFill>
            <a:srgbClr val="0E2E2A"/>
          </a:solidFill>
          <a:ln w="19050">
            <a:solidFill>
              <a:srgbClr val="F2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103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2C66D"/>
                </a:solidFill>
              </a:defRPr>
            </a:pPr>
            <a:r>
              <a:t>28 + 8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States &amp; UTs Ready</a:t>
            </a:r>
          </a:p>
          <a:p>
            <a:pPr>
              <a:defRPr sz="1000">
                <a:solidFill>
                  <a:srgbClr val="D9E8DF"/>
                </a:solidFill>
              </a:defRPr>
            </a:pPr>
            <a:r>
              <a:t>Tri-lingual core with native script indicators ready for nationwide rollout under National Health 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920240"/>
            <a:ext cx="2560320" cy="3017520"/>
          </a:xfrm>
          <a:prstGeom prst="roundRect">
            <a:avLst/>
          </a:prstGeom>
          <a:solidFill>
            <a:srgbClr val="0E2E2A"/>
          </a:solidFill>
          <a:ln w="19050">
            <a:solidFill>
              <a:srgbClr val="F2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103120"/>
            <a:ext cx="2194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600" b="1">
                <a:solidFill>
                  <a:srgbClr val="F2C66D"/>
                </a:solidFill>
              </a:defRPr>
            </a:pPr>
            <a:r>
              <a:t>0 sec</a:t>
            </a:r>
          </a:p>
          <a:p>
            <a:pPr>
              <a:spcAft>
                <a:spcPts val="800"/>
              </a:spcAft>
              <a:defRPr sz="1300" b="1">
                <a:solidFill>
                  <a:srgbClr val="FFFFFF"/>
                </a:solidFill>
              </a:defRPr>
            </a:pPr>
            <a:r>
              <a:t>Crash Downtime</a:t>
            </a:r>
          </a:p>
          <a:p>
            <a:pPr>
              <a:defRPr sz="1000">
                <a:solidFill>
                  <a:srgbClr val="D9E8DF"/>
                </a:solidFill>
              </a:defRPr>
            </a:pPr>
            <a:r>
              <a:t>Isomorphic client-side JWT fallback guarantees uninterrupted offline operation inside thick hospital walls.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74E46"/>
                </a:solidFill>
              </a:defRPr>
            </a:pPr>
            <a:r>
              <a:t>OPD Saathi • Open Source Public Health Good (MIT License)</a:t>
            </a:r>
          </a:p>
          <a:p>
            <a:pPr>
              <a:defRPr sz="1050">
                <a:solidFill>
                  <a:srgbClr val="26352F"/>
                </a:solidFill>
              </a:defRPr>
            </a:pPr>
            <a:r>
              <a:t>GitHub Repository: https://github.com/NAVANETH7/Hackcache_Hackathon.git</a:t>
            </a:r>
            <a:br/>
            <a:r>
              <a:t>Cloud Deployments: Vercel (Frontend PWA) &amp; Render (Real-Time Node Service) • Aligned with NDHB, ABDM &amp; NHM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